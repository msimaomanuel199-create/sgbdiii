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Documentos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Encomendas</c:v>
                  </c:pt>
                  <c:pt idx="1">
                    <c:v>Logs</c:v>
                  </c:pt>
                  <c:pt idx="2">
                    <c:v>Avaliações</c:v>
                  </c:pt>
                  <c:pt idx="3">
                    <c:v>Pesquisas</c:v>
                  </c:pt>
                  <c:pt idx="4">
                    <c:v>Clientes</c:v>
                  </c:pt>
                  <c:pt idx="5">
                    <c:v>Notific.</c:v>
                  </c:pt>
                  <c:pt idx="6">
                    <c:v>Carrinhos</c:v>
                  </c:pt>
                  <c:pt idx="7">
                    <c:v>Produtos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4000001</c:v>
                </c:pt>
                <c:pt idx="1">
                  <c:v>2000001</c:v>
                </c:pt>
                <c:pt idx="2">
                  <c:v>1500001</c:v>
                </c:pt>
                <c:pt idx="3">
                  <c:v>700001</c:v>
                </c:pt>
                <c:pt idx="4">
                  <c:v>500002</c:v>
                </c:pt>
                <c:pt idx="5">
                  <c:v>500001</c:v>
                </c:pt>
                <c:pt idx="6">
                  <c:v>500001</c:v>
                </c:pt>
                <c:pt idx="7">
                  <c:v>300001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1D4ED8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576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 Avaliação de um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11430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2011680"/>
            <a:ext cx="4572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2148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Banco de Dados NoSQL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2743200"/>
            <a:ext cx="5029200" cy="1965960"/>
          </a:xfrm>
          <a:prstGeom prst="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83464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Simão Manuel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Informática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II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Instituição: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| Angola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comércio eletrónico global ultrapassou 5 biliões de dólares em 2024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exponencial exige sistemas de BD altamente escaláveis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dados NoSQL surgem como resposta à necessidade de flexibilidade e 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lidera o mercado NoSQL com suporte a documentos JSON e escalabilidade horizontal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implementa uma solução completa de e-commerce com 10 milhões de documentos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60720" y="1005840"/>
            <a:ext cx="3017520" cy="1097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6187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286000"/>
            <a:ext cx="3017520" cy="1097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4203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2377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583680" y="2852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Coleções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760720" y="3566160"/>
            <a:ext cx="3017520" cy="1097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22192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58368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(geração)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3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uma solução de e-commerce baseada em MongoDB capaz de suportar grandes volumes de dados, utilizando Docker para containerização e demonstrar consultas avançadas de alto desempenho.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69748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6517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6609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BD NoSQL com 20+ coleções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46120" y="2468880"/>
            <a:ext cx="269748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26517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2660904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Containerizar com Docker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26480" y="2468880"/>
            <a:ext cx="269748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36208" y="265176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660904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10 milhões de documentos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65760" y="3566160"/>
            <a:ext cx="269748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" y="3749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758184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5156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consultas avançadas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246120" y="3566160"/>
            <a:ext cx="269748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55848" y="3749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75818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desempenho e índices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26480" y="3566160"/>
            <a:ext cx="2697480" cy="914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3749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758184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749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escalabilidade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2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14400"/>
            <a:ext cx="2697480" cy="54864"/>
          </a:xfrm>
          <a:prstGeom prst="rect">
            <a:avLst/>
          </a:prstGeom>
          <a:solidFill>
            <a:srgbClr val="4DB33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88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NoSQL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91440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0" y="914400"/>
            <a:ext cx="269748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11430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161288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188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16052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Containerização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91440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6080760" y="914400"/>
            <a:ext cx="2697480" cy="54864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8" name="Shape 14"/>
          <p:cNvSpPr/>
          <p:nvPr/>
        </p:nvSpPr>
        <p:spPr>
          <a:xfrm>
            <a:off x="6263640" y="11430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161288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1188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04088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Visual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20040" y="28346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18"/>
          <p:cNvSpPr/>
          <p:nvPr/>
        </p:nvSpPr>
        <p:spPr>
          <a:xfrm>
            <a:off x="320040" y="2834640"/>
            <a:ext cx="2697480" cy="54864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24" name="Shape 19"/>
          <p:cNvSpPr/>
          <p:nvPr/>
        </p:nvSpPr>
        <p:spPr>
          <a:xfrm>
            <a:off x="502920" y="30632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081528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28016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Dados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00400" y="28346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3"/>
          <p:cNvSpPr/>
          <p:nvPr/>
        </p:nvSpPr>
        <p:spPr>
          <a:xfrm>
            <a:off x="3200400" y="2834640"/>
            <a:ext cx="26974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Shape 24"/>
          <p:cNvSpPr/>
          <p:nvPr/>
        </p:nvSpPr>
        <p:spPr>
          <a:xfrm>
            <a:off x="3383280" y="30632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081528"/>
            <a:ext cx="594360" cy="5943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16052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16052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Simulados pt_PT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080760" y="28346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28"/>
          <p:cNvSpPr/>
          <p:nvPr/>
        </p:nvSpPr>
        <p:spPr>
          <a:xfrm>
            <a:off x="6080760" y="2834640"/>
            <a:ext cx="2697480" cy="54864"/>
          </a:xfrm>
          <a:prstGeom prst="rect">
            <a:avLst/>
          </a:prstGeom>
          <a:solidFill>
            <a:srgbClr val="F7931E"/>
          </a:solidFill>
          <a:ln/>
        </p:spPr>
      </p:sp>
      <p:sp>
        <p:nvSpPr>
          <p:cNvPr id="36" name="Shape 29"/>
          <p:cNvSpPr/>
          <p:nvPr/>
        </p:nvSpPr>
        <p:spPr>
          <a:xfrm>
            <a:off x="6263640" y="30632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081528"/>
            <a:ext cx="594360" cy="5943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4088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704088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ao MongoDB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3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73736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914400"/>
            <a:ext cx="1737360" cy="54864"/>
          </a:xfrm>
          <a:prstGeom prst="rect">
            <a:avLst/>
          </a:prstGeom>
          <a:solidFill>
            <a:srgbClr val="377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97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51760" y="914400"/>
            <a:ext cx="173736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51760" y="914400"/>
            <a:ext cx="1737360" cy="54864"/>
          </a:xfrm>
          <a:prstGeom prst="rect">
            <a:avLst/>
          </a:prstGeom>
          <a:solidFill>
            <a:srgbClr val="F7931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972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914400"/>
            <a:ext cx="173736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914400"/>
            <a:ext cx="1737360" cy="54864"/>
          </a:xfrm>
          <a:prstGeom prst="rect">
            <a:avLst/>
          </a:prstGeom>
          <a:solidFill>
            <a:srgbClr val="2496E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09728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75120" y="914400"/>
            <a:ext cx="1737360" cy="13716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75120" y="914400"/>
            <a:ext cx="1737360" cy="54864"/>
          </a:xfrm>
          <a:prstGeom prst="rect">
            <a:avLst/>
          </a:prstGeom>
          <a:solidFill>
            <a:srgbClr val="0068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09728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1783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377440" y="1554480"/>
            <a:ext cx="2743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5"/>
          <p:cNvSpPr/>
          <p:nvPr/>
        </p:nvSpPr>
        <p:spPr>
          <a:xfrm>
            <a:off x="2423160" y="14447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4389120" y="1554480"/>
            <a:ext cx="2743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17"/>
          <p:cNvSpPr/>
          <p:nvPr/>
        </p:nvSpPr>
        <p:spPr>
          <a:xfrm>
            <a:off x="4434840" y="14447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400800" y="1554480"/>
            <a:ext cx="27432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19"/>
          <p:cNvSpPr/>
          <p:nvPr/>
        </p:nvSpPr>
        <p:spPr>
          <a:xfrm>
            <a:off x="6446520" y="14447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365760" y="2560320"/>
            <a:ext cx="8412480" cy="21945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Dados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8640" y="3063240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 script Python utiliza a biblioteca Faker (pt_PT) para gerar dados realistas em português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PyMongo conecta ao container Docker e envia documentos em lotes de 1.000 registos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MongoDB armazena os documentos em coleções estruturadas com índices otimizados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MongoDB Compass permite visualização, análise e execução de consultas avançadas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DE NoSQL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JSON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em formato JSON/BSON, permitindo estruturas aninhadas e arrays sem esquema fixo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86868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00584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024128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Horizontal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através da adição de novos servidores (sharding), sem necessidade de hardware mais potente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01752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35808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Performance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" y="3794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de leitura/escrita extremamente rápidas, ideais para grandes volumes de dados em tempo real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3017520"/>
            <a:ext cx="731520" cy="7315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035808"/>
            <a:ext cx="685800" cy="685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Esquema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794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schema rígido, cada documento pode ter estrutura diferente adaptada às necessidades da aplicação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1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BASE DE DADOS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87782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8778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243584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243584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2984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29844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1664208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9"/>
          <p:cNvSpPr/>
          <p:nvPr/>
        </p:nvSpPr>
        <p:spPr>
          <a:xfrm>
            <a:off x="365760" y="1664208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1907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6384" y="171907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65760" y="2084832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2"/>
          <p:cNvSpPr/>
          <p:nvPr/>
        </p:nvSpPr>
        <p:spPr>
          <a:xfrm>
            <a:off x="365760" y="2084832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396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" y="213969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65760" y="2505456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5"/>
          <p:cNvSpPr/>
          <p:nvPr/>
        </p:nvSpPr>
        <p:spPr>
          <a:xfrm>
            <a:off x="365760" y="2505456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56032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6384" y="256032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histórico_precos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65760" y="2926080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18"/>
          <p:cNvSpPr/>
          <p:nvPr/>
        </p:nvSpPr>
        <p:spPr>
          <a:xfrm>
            <a:off x="365760" y="2926080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298094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6384" y="29809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365760" y="3346704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1"/>
          <p:cNvSpPr/>
          <p:nvPr/>
        </p:nvSpPr>
        <p:spPr>
          <a:xfrm>
            <a:off x="365760" y="3346704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40156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86384" y="34015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chats_suporte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3291840" y="822960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4"/>
          <p:cNvSpPr/>
          <p:nvPr/>
        </p:nvSpPr>
        <p:spPr>
          <a:xfrm>
            <a:off x="3291840" y="822960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877824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712464" y="8778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3291840" y="1243584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Shape 27"/>
          <p:cNvSpPr/>
          <p:nvPr/>
        </p:nvSpPr>
        <p:spPr>
          <a:xfrm>
            <a:off x="3291840" y="1243584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1298448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3712464" y="129844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carrinhos</a:t>
            </a:r>
            <a:endParaRPr lang="en-US" sz="1050" dirty="0"/>
          </a:p>
        </p:txBody>
      </p:sp>
      <p:sp>
        <p:nvSpPr>
          <p:cNvPr id="40" name="Shape 29"/>
          <p:cNvSpPr/>
          <p:nvPr/>
        </p:nvSpPr>
        <p:spPr>
          <a:xfrm>
            <a:off x="3291840" y="1664208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0"/>
          <p:cNvSpPr/>
          <p:nvPr/>
        </p:nvSpPr>
        <p:spPr>
          <a:xfrm>
            <a:off x="3291840" y="1664208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1568" y="1719072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712464" y="171907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1050" dirty="0"/>
          </a:p>
        </p:txBody>
      </p:sp>
      <p:sp>
        <p:nvSpPr>
          <p:cNvPr id="44" name="Shape 32"/>
          <p:cNvSpPr/>
          <p:nvPr/>
        </p:nvSpPr>
        <p:spPr>
          <a:xfrm>
            <a:off x="3291840" y="2084832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Shape 33"/>
          <p:cNvSpPr/>
          <p:nvPr/>
        </p:nvSpPr>
        <p:spPr>
          <a:xfrm>
            <a:off x="3291840" y="2084832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568" y="2139696"/>
            <a:ext cx="237744" cy="23774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712464" y="213969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050" dirty="0"/>
          </a:p>
        </p:txBody>
      </p:sp>
      <p:sp>
        <p:nvSpPr>
          <p:cNvPr id="48" name="Shape 35"/>
          <p:cNvSpPr/>
          <p:nvPr/>
        </p:nvSpPr>
        <p:spPr>
          <a:xfrm>
            <a:off x="3291840" y="2505456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Shape 36"/>
          <p:cNvSpPr/>
          <p:nvPr/>
        </p:nvSpPr>
        <p:spPr>
          <a:xfrm>
            <a:off x="3291840" y="2505456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1568" y="2560320"/>
            <a:ext cx="237744" cy="23774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3712464" y="256032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logs_sistema</a:t>
            </a:r>
            <a:endParaRPr lang="en-US" sz="1050" dirty="0"/>
          </a:p>
        </p:txBody>
      </p:sp>
      <p:sp>
        <p:nvSpPr>
          <p:cNvPr id="52" name="Shape 38"/>
          <p:cNvSpPr/>
          <p:nvPr/>
        </p:nvSpPr>
        <p:spPr>
          <a:xfrm>
            <a:off x="3291840" y="2926080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Shape 39"/>
          <p:cNvSpPr/>
          <p:nvPr/>
        </p:nvSpPr>
        <p:spPr>
          <a:xfrm>
            <a:off x="3291840" y="2926080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01568" y="2980944"/>
            <a:ext cx="237744" cy="237744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3712464" y="29809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campanhas_marketing</a:t>
            </a:r>
            <a:endParaRPr lang="en-US" sz="1050" dirty="0"/>
          </a:p>
        </p:txBody>
      </p:sp>
      <p:sp>
        <p:nvSpPr>
          <p:cNvPr id="56" name="Shape 41"/>
          <p:cNvSpPr/>
          <p:nvPr/>
        </p:nvSpPr>
        <p:spPr>
          <a:xfrm>
            <a:off x="3291840" y="3346704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Shape 42"/>
          <p:cNvSpPr/>
          <p:nvPr/>
        </p:nvSpPr>
        <p:spPr>
          <a:xfrm>
            <a:off x="3291840" y="3346704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01568" y="3401568"/>
            <a:ext cx="237744" cy="237744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3712464" y="340156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analytics_vendas</a:t>
            </a:r>
            <a:endParaRPr lang="en-US" sz="1050" dirty="0"/>
          </a:p>
        </p:txBody>
      </p:sp>
      <p:sp>
        <p:nvSpPr>
          <p:cNvPr id="60" name="Shape 44"/>
          <p:cNvSpPr/>
          <p:nvPr/>
        </p:nvSpPr>
        <p:spPr>
          <a:xfrm>
            <a:off x="6217920" y="822960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Shape 45"/>
          <p:cNvSpPr/>
          <p:nvPr/>
        </p:nvSpPr>
        <p:spPr>
          <a:xfrm>
            <a:off x="6217920" y="822960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7648" y="877824"/>
            <a:ext cx="237744" cy="237744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6638544" y="8778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</a:t>
            </a:r>
            <a:endParaRPr lang="en-US" sz="1050" dirty="0"/>
          </a:p>
        </p:txBody>
      </p:sp>
      <p:sp>
        <p:nvSpPr>
          <p:cNvPr id="64" name="Shape 47"/>
          <p:cNvSpPr/>
          <p:nvPr/>
        </p:nvSpPr>
        <p:spPr>
          <a:xfrm>
            <a:off x="6217920" y="1243584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5" name="Shape 48"/>
          <p:cNvSpPr/>
          <p:nvPr/>
        </p:nvSpPr>
        <p:spPr>
          <a:xfrm>
            <a:off x="6217920" y="1243584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6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7648" y="1298448"/>
            <a:ext cx="237744" cy="237744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6638544" y="1298448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050" dirty="0"/>
          </a:p>
        </p:txBody>
      </p:sp>
      <p:sp>
        <p:nvSpPr>
          <p:cNvPr id="68" name="Shape 50"/>
          <p:cNvSpPr/>
          <p:nvPr/>
        </p:nvSpPr>
        <p:spPr>
          <a:xfrm>
            <a:off x="6217920" y="1664208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9" name="Shape 51"/>
          <p:cNvSpPr/>
          <p:nvPr/>
        </p:nvSpPr>
        <p:spPr>
          <a:xfrm>
            <a:off x="6217920" y="1664208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7648" y="1719072"/>
            <a:ext cx="237744" cy="237744"/>
          </a:xfrm>
          <a:prstGeom prst="rect">
            <a:avLst/>
          </a:prstGeom>
        </p:spPr>
      </p:pic>
      <p:sp>
        <p:nvSpPr>
          <p:cNvPr id="71" name="Text 52"/>
          <p:cNvSpPr/>
          <p:nvPr/>
        </p:nvSpPr>
        <p:spPr>
          <a:xfrm>
            <a:off x="6638544" y="1719072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</a:t>
            </a:r>
            <a:endParaRPr lang="en-US" sz="1050" dirty="0"/>
          </a:p>
        </p:txBody>
      </p:sp>
      <p:sp>
        <p:nvSpPr>
          <p:cNvPr id="72" name="Shape 53"/>
          <p:cNvSpPr/>
          <p:nvPr/>
        </p:nvSpPr>
        <p:spPr>
          <a:xfrm>
            <a:off x="6217920" y="2084832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3" name="Shape 54"/>
          <p:cNvSpPr/>
          <p:nvPr/>
        </p:nvSpPr>
        <p:spPr>
          <a:xfrm>
            <a:off x="6217920" y="2084832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7648" y="2139696"/>
            <a:ext cx="237744" cy="237744"/>
          </a:xfrm>
          <a:prstGeom prst="rect">
            <a:avLst/>
          </a:prstGeom>
        </p:spPr>
      </p:pic>
      <p:sp>
        <p:nvSpPr>
          <p:cNvPr id="75" name="Text 55"/>
          <p:cNvSpPr/>
          <p:nvPr/>
        </p:nvSpPr>
        <p:spPr>
          <a:xfrm>
            <a:off x="6638544" y="213969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</a:t>
            </a:r>
            <a:endParaRPr lang="en-US" sz="1050" dirty="0"/>
          </a:p>
        </p:txBody>
      </p:sp>
      <p:sp>
        <p:nvSpPr>
          <p:cNvPr id="76" name="Shape 56"/>
          <p:cNvSpPr/>
          <p:nvPr/>
        </p:nvSpPr>
        <p:spPr>
          <a:xfrm>
            <a:off x="6217920" y="2505456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7" name="Shape 57"/>
          <p:cNvSpPr/>
          <p:nvPr/>
        </p:nvSpPr>
        <p:spPr>
          <a:xfrm>
            <a:off x="6217920" y="2505456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7648" y="2560320"/>
            <a:ext cx="237744" cy="237744"/>
          </a:xfrm>
          <a:prstGeom prst="rect">
            <a:avLst/>
          </a:prstGeom>
        </p:spPr>
      </p:pic>
      <p:sp>
        <p:nvSpPr>
          <p:cNvPr id="79" name="Text 58"/>
          <p:cNvSpPr/>
          <p:nvPr/>
        </p:nvSpPr>
        <p:spPr>
          <a:xfrm>
            <a:off x="6638544" y="2560320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</a:t>
            </a:r>
            <a:endParaRPr lang="en-US" sz="1050" dirty="0"/>
          </a:p>
        </p:txBody>
      </p:sp>
      <p:sp>
        <p:nvSpPr>
          <p:cNvPr id="80" name="Shape 59"/>
          <p:cNvSpPr/>
          <p:nvPr/>
        </p:nvSpPr>
        <p:spPr>
          <a:xfrm>
            <a:off x="6217920" y="2926080"/>
            <a:ext cx="2743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1" name="Shape 60"/>
          <p:cNvSpPr/>
          <p:nvPr/>
        </p:nvSpPr>
        <p:spPr>
          <a:xfrm>
            <a:off x="6217920" y="2926080"/>
            <a:ext cx="54864" cy="347472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8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7648" y="2980944"/>
            <a:ext cx="237744" cy="237744"/>
          </a:xfrm>
          <a:prstGeom prst="rect">
            <a:avLst/>
          </a:prstGeom>
        </p:spPr>
      </p:pic>
      <p:sp>
        <p:nvSpPr>
          <p:cNvPr id="83" name="Text 61"/>
          <p:cNvSpPr/>
          <p:nvPr/>
        </p:nvSpPr>
        <p:spPr>
          <a:xfrm>
            <a:off x="6638544" y="29809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devoluções</a:t>
            </a:r>
            <a:endParaRPr lang="en-US" sz="1050" dirty="0"/>
          </a:p>
        </p:txBody>
      </p:sp>
      <p:sp>
        <p:nvSpPr>
          <p:cNvPr id="84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5" name="Text 63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Coleções  |  ecommerce_nosql  |  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MASSIVA DE DADOS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Documentos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822960"/>
            <a:ext cx="274320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868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1389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274320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868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~4,300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13898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Docs/segundo (média)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65760" y="1920240"/>
          <a:ext cx="8412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IMPLEMENTADOS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874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78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Simples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(único)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estado_pedido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avaliacao_nota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data_criacao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874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78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Compostos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cliente_id +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produto_id + avaliacao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+ preco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874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35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Geoespaciais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localizacao_2dsphere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GPS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por raio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8745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35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Texto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 (fulltext)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nome_produto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AVANÇADAS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Produtos por Receita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60520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db.encomendas.aggregate([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$unwind: "$itens"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 _id: "$itens.produto_id",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receita: { $sum: "$itens.subtotal" }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receita: -1 } }, { $limit: 10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16052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84124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Geoespacial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60520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db.clientes.find({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localizacao: { $near: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$geometry: { type:"Point",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coordinates: [-8.83, 13.23]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$maxDistance: 50000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Consultas Implementadas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2697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764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Múltiplos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749040"/>
            <a:ext cx="2697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7764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749040"/>
            <a:ext cx="2697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7764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Geoespacial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2697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27939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Parciais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4251960"/>
            <a:ext cx="2697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427939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251960"/>
            <a:ext cx="26974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427939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Texto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AGREGAÇÃO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28016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822960"/>
            <a:ext cx="128016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822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$unwind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960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128016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822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$group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960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17720" y="822960"/>
            <a:ext cx="128016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822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960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128016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822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$limit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960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52360" y="822960"/>
            <a:ext cx="128016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822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$project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645920"/>
            <a:ext cx="4114800" cy="13258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645920"/>
            <a:ext cx="64008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por Categoria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121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encomendas por categoria de produto e calcula receita total, média e número de vendas por categoria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645920"/>
            <a:ext cx="4114800" cy="13258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645920"/>
            <a:ext cx="64008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Mais Vendidos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21214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 itens de encomenda, conta frequência de cada produto e ordena por popularidade descendente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4114800" cy="13258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108960"/>
            <a:ext cx="64008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Cliente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5844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dados de clientes, encomendas e avaliações para criar perfil completo com métricas de compra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4114800" cy="13258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108960"/>
            <a:ext cx="64008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Temporal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35844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vendas por data usando $dateToString e calcula tendências mensais e sazonalidade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OBTIDOS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10,000,009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inseridos com sucesso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86868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5156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6916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33756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gerados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86868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6916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4,000,001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21792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 processadas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269748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8036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35204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 min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457200" y="39959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 de geração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46120" y="269748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880360"/>
            <a:ext cx="594360" cy="5943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37560" y="35204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~4,300/s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3337560" y="39959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 de inserção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2697480"/>
            <a:ext cx="269748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880360"/>
            <a:ext cx="594360" cy="5943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7920" y="352044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erros</a:t>
            </a:r>
            <a:endParaRPr lang="en-US" sz="1700" dirty="0"/>
          </a:p>
        </p:txBody>
      </p:sp>
      <p:sp>
        <p:nvSpPr>
          <p:cNvPr id="27" name="Text 19"/>
          <p:cNvSpPr/>
          <p:nvPr/>
        </p:nvSpPr>
        <p:spPr>
          <a:xfrm>
            <a:off x="6217920" y="39959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dos dados mantida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1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DA SOLUÇÃO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058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2412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9144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Velocidade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28016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de 4.300+ docs/segundo; consultas indexadas em milissegundos mesmo com milhões de registos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82296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00584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024128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9144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23560" y="128016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dinâmico permite evolução da estrutura sem migrações complexas ou downtime da aplicação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14884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" y="23317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50008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2402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260604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nativo a replicação e sharding para crescimento horizontal conforme a procura aumenta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14884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23317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350008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2402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Integração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260604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Python/PyMongo maduro, com drivers oficiais para todas as linguagens modernas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65760" y="347472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" y="3657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675888"/>
            <a:ext cx="594360" cy="5943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5661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a Big Data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234440" y="393192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comprovada para armazenar e processar dezenas de milhões de documentos com eficiência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3474720"/>
            <a:ext cx="411480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64608" y="365760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675888"/>
            <a:ext cx="594360" cy="5943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5661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623560" y="3931920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garante ambiente reprodutível e idêntico em desenvolvimento, testes e produção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27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demonstrou com sucesso a capacidade do MongoDB para gerir sistemas de e-commerce de grande escala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inseridos 10 milhões de documentos em apenas 46,9 minutos, atingindo uma taxa média de 4.300 docs/s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utilização do Docker garantiu portabilidade e reprodutibilidade do ambiente de desenvolvimento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índices implementados (simples, compostos, geoespaciais e de texto) asseguram consultas de alta performance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modelação Query-Driven com desnormalização e embedding mostrou-se eficaz para o padrão de acesso previsto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749040"/>
            <a:ext cx="1920240" cy="77724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 em tempo real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1920240" cy="77724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Recomendação com 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3749040"/>
            <a:ext cx="1920240" cy="77724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integrada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3749040"/>
            <a:ext cx="1920240" cy="777240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7490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Sharding em produção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BIBLIOGRÁFICAS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54864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9611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Inc. (2024). MongoDB Documentation. https://www.mongodb.com/docs/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84124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26464"/>
            <a:ext cx="54864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5389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Inc. (2024). Docker Documentation. https://docs.docker.com/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984248"/>
            <a:ext cx="54864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Inc. (2024). MongoDB Compass Documentation. https://www.mongodb.com/docs/compass/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542032"/>
            <a:ext cx="54864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69464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 Contributors (2024). PyMongo Documentation. https://pymongo.readthedocs.io/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99816"/>
            <a:ext cx="841248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099816"/>
            <a:ext cx="54864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27248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Chodorow, K. (2019). MongoDB: The Definitive Guide (3rd ed.). O'Reilly Media.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3657600"/>
            <a:ext cx="54864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8503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Bradshaw, S., Brazil, E., &amp; Chodorow, K. (2019). MongoDB: The Definitive Guide. O'Reilly.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215384"/>
            <a:ext cx="8412480" cy="4846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215384"/>
            <a:ext cx="54864" cy="4846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4281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Lutz, M. (2019). Learning Python (5th ed.). O'Reilly Media.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APA 7ª Edição  |  Sistema de E-commerce em MongoDB | Angola,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0"/>
            <a:ext cx="36576" cy="51435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6576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Atenção!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2743200" y="2697480"/>
            <a:ext cx="36576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Simão Manuel  |  SGBD II  |  2026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msimaomanuel199@gmail.com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"Dados bem estruturados são a base de toda a inovação digital"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Implementação e Avaliação de um Sistema de E-commerce em MongoDB</dc:title>
  <dc:subject>PptxGenJS Presentation</dc:subject>
  <dc:creator>PptxGenJS</dc:creator>
  <cp:lastModifiedBy>PptxGenJS</cp:lastModifiedBy>
  <cp:revision>1</cp:revision>
  <dcterms:created xsi:type="dcterms:W3CDTF">2026-06-02T04:36:21Z</dcterms:created>
  <dcterms:modified xsi:type="dcterms:W3CDTF">2026-06-02T04:36:21Z</dcterms:modified>
</cp:coreProperties>
</file>