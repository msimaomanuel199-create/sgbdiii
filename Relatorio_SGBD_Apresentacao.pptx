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754880"/>
            <a:ext cx="3200400" cy="32004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D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POLITÉCNICO  •  CURSO DE ENGENHARIA INFORMÁTICA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 do Projeto de SGBD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NoSQL para E-commerce com MongoDB e Docker sobre WSL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3388766"/>
            <a:ext cx="309067" cy="30906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32461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ecommerce_catalog  •  MongoDB  •  Docker  •  WSL Ubuntu 24.04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4023360"/>
            <a:ext cx="6949440" cy="1783080"/>
          </a:xfrm>
          <a:prstGeom prst="roundRect">
            <a:avLst>
              <a:gd name="adj" fmla="val 4103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4160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 DO GRUPO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68680" y="452628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Simão Kiyeleko   •   João Fernando da Costa   •   Maria David Kiala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Pedro Lucunga   •   Lukoki Luvualo   •   Augusto Paulo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692640" y="6355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9D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UÍGE /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Introdução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6675120" cy="3840480"/>
          </a:xfrm>
          <a:prstGeom prst="roundRect">
            <a:avLst>
              <a:gd name="adj" fmla="val 1905"/>
            </a:avLst>
          </a:prstGeom>
          <a:solidFill>
            <a:srgbClr val="EAF3F7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783080"/>
            <a:ext cx="6035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evolução dos sistemas de comércio eletrónico exige soluções de armazenamento de dados altamente escaláveis, flexíveis e de excelente desempenho.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modelos relacionais tradicionais, embora robustos, enfrentam limitações ao lidar com grandes volumes de dados não estruturados ou catálogos de produtos com esquemas dinâmicos.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suprir estas necessidades, este projeto foca-se na concepção e implementação de uma infraestrutura moderna de gestão de dados baseada em tecnologia NoSQL.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35240" y="1417320"/>
            <a:ext cx="3703320" cy="1143000"/>
          </a:xfrm>
          <a:prstGeom prst="roundRect">
            <a:avLst>
              <a:gd name="adj" fmla="val 6400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0" y="16687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7459" y="182239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0" y="15819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0" y="19842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Catálogos dinâmicos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35240" y="2743200"/>
            <a:ext cx="3703320" cy="1143000"/>
          </a:xfrm>
          <a:prstGeom prst="roundRect">
            <a:avLst>
              <a:gd name="adj" fmla="val 640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863840" y="29946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459" y="314827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86800" y="29077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8686800" y="33101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não estruturados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635240" y="4069080"/>
            <a:ext cx="3703320" cy="1143000"/>
          </a:xfrm>
          <a:prstGeom prst="roundRect">
            <a:avLst>
              <a:gd name="adj" fmla="val 6400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863840" y="43205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7459" y="4474159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6800" y="423367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686800" y="46360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 &amp; flexibilidade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3931920"/>
            <a:ext cx="4114800" cy="41148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B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GERAL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28016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362" y="1521562"/>
            <a:ext cx="523037" cy="5230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423160"/>
            <a:ext cx="8778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Projetar, configurar e validar uma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E8B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infraestrutura automatizada e portável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utilizando uma base de dados NoSQL orientada a documentos (MongoDB), integrada num ambiente de contentores (Docker) sob o ecossistema Windows Subsystem for Linux.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822960" y="4937760"/>
            <a:ext cx="2788920" cy="64008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493776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(NoSQL)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840480" y="4937760"/>
            <a:ext cx="2788920" cy="64008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3840480" y="493776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(Contentores)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0" y="4937760"/>
            <a:ext cx="2788920" cy="64008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0" y="493776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 + Ubuntu 24.04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Importância da Ferramenta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MongoDB e Docker foram escolhidos como base da infraestrutura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" y="21195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202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Flexibilidade de Esquema (Schema-less)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606040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MongoDB armazena dados em documentos BSON, permitindo modificar a estrutura de um produto sem migrações complexas ou interrupções de serviço.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80760" y="1691640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19659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699" y="21195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9202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 e Escalabilidade Horizontal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355080" y="2606040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Desenhado para alta disponibilidade e escalabilidade através de réplicas e sharding, mantendo tempos de resposta reduzidos com o crescimento do sistema.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023360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2976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" y="445129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2519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 e Portabilidade com Docker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14400" y="4937760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contentores garantem que a infraestrutura corra isolada do sistema hospedeiro, eliminando problemas de compatibilidade e facilitando a replicação do ambiente.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080760" y="4023360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55080" y="42976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8699" y="445129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2519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no Desenvolvimento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355080" y="4937760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ecossistema permite acoplar scripts em Python para automação, testes de carga massivos e auditoria de logs, acelerando a entrega do software.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Infraestrutura e Virtualização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WSL + contentor Docker para a base de dados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1834286"/>
            <a:ext cx="309067" cy="3090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45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Atualização do WSL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17320" y="201168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do Windows Subsystem for Linux sobre o Windows 10, fornecendo suporte nativo a ferramentas Linux.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01752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" y="3160166"/>
            <a:ext cx="309067" cy="30906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971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Ambiente Ubuntu 24.04.1 LTS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417320" y="33375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Conectividade de rede e recursos do sistema confirmados — ambiente pronto para o Docker e ferramentas de desenvolvimento.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3434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" y="4486046"/>
            <a:ext cx="309067" cy="30906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297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Criação do Contentor Docker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17320" y="466344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Contentor mongodb-ecommerce criado e em execução, com persistência e reinício automático configurados.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903720" y="1691640"/>
            <a:ext cx="4617720" cy="4572000"/>
          </a:xfrm>
          <a:prstGeom prst="roundRect">
            <a:avLst>
              <a:gd name="adj" fmla="val 160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269480" y="20116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3099" y="2165299"/>
            <a:ext cx="332842" cy="33284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092440" y="2057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do Contentor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7269480" y="27889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do contentor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9098280" y="2788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mongodb-ecommerce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7269480" y="32461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9098280" y="32461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7269480" y="37033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mapeada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9098280" y="37033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27017 : 27017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7269480" y="41605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Credenciais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9098280" y="41605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(root)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7269480" y="46177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 persistência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9098280" y="46177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D:\docker\mongodb\data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7269480" y="50749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reinício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9098280" y="5074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unless-stopped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7269480" y="553212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Mongosh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9098280" y="55321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v2.8.3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Administração e Conectividade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Compass conectado à base de dados ecommerce_catalog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937760" cy="4572000"/>
          </a:xfrm>
          <a:prstGeom prst="roundRect">
            <a:avLst>
              <a:gd name="adj" fmla="val 1600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116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739" y="216529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574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Compass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2834640"/>
            <a:ext cx="42976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de conexão</a:t>
            </a:r>
            <a:endParaRPr lang="en-US" sz="13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1B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mongodb://localhost:27017/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</a:t>
            </a:r>
            <a:endParaRPr lang="en-US" sz="13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1B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ecommerce_catalog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Ligação estabelecida com sucesso ao contentor Docker em execução na porta local 27017. Atualização disponível para a versão 1.49.8.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852160" y="16916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Coleções da Base de Dados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852160" y="2103120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EAF3F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888" y="220827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55080" y="21031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732520" y="2103120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EAF3F7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248" y="220827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235440" y="21031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852160" y="2711196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EAF3F7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2816352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55080" y="2711196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8732520" y="2711196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EAF3F7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2248" y="2816352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235440" y="2711196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5852160" y="3319272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EAF3F7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1888" y="3424428"/>
            <a:ext cx="292608" cy="29260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355080" y="331927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fornecedores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8732520" y="3319272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EAF3F7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2248" y="3424428"/>
            <a:ext cx="292608" cy="29260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235440" y="331927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encomendas</a:t>
            </a:r>
            <a:endParaRPr lang="en-US" sz="1200" dirty="0"/>
          </a:p>
        </p:txBody>
      </p:sp>
      <p:sp>
        <p:nvSpPr>
          <p:cNvPr id="28" name="Shape 19"/>
          <p:cNvSpPr/>
          <p:nvPr/>
        </p:nvSpPr>
        <p:spPr>
          <a:xfrm>
            <a:off x="5852160" y="3927348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EAF3F7"/>
          </a:solidFill>
          <a:ln/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1888" y="4032504"/>
            <a:ext cx="292608" cy="29260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355080" y="392734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cupons</a:t>
            </a:r>
            <a:endParaRPr lang="en-US" sz="1200" dirty="0"/>
          </a:p>
        </p:txBody>
      </p:sp>
      <p:sp>
        <p:nvSpPr>
          <p:cNvPr id="31" name="Shape 21"/>
          <p:cNvSpPr/>
          <p:nvPr/>
        </p:nvSpPr>
        <p:spPr>
          <a:xfrm>
            <a:off x="8732520" y="3927348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EAF3F7"/>
          </a:solidFill>
          <a:ln/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42248" y="4032504"/>
            <a:ext cx="292608" cy="292608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9235440" y="392734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devolucoes</a:t>
            </a:r>
            <a:endParaRPr lang="en-US" sz="1200" dirty="0"/>
          </a:p>
        </p:txBody>
      </p:sp>
      <p:sp>
        <p:nvSpPr>
          <p:cNvPr id="34" name="Shape 23"/>
          <p:cNvSpPr/>
          <p:nvPr/>
        </p:nvSpPr>
        <p:spPr>
          <a:xfrm>
            <a:off x="5852160" y="4535424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EAF3F7"/>
          </a:solidFill>
          <a:ln/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61888" y="4640580"/>
            <a:ext cx="292608" cy="292608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6355080" y="4535424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favoritos</a:t>
            </a:r>
            <a:endParaRPr lang="en-US" sz="1200" dirty="0"/>
          </a:p>
        </p:txBody>
      </p:sp>
      <p:sp>
        <p:nvSpPr>
          <p:cNvPr id="37" name="Shape 25"/>
          <p:cNvSpPr/>
          <p:nvPr/>
        </p:nvSpPr>
        <p:spPr>
          <a:xfrm>
            <a:off x="8732520" y="4535424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EAF3F7"/>
          </a:solidFill>
          <a:ln/>
        </p:spPr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42248" y="4640580"/>
            <a:ext cx="292608" cy="292608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9235440" y="4535424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historico_precos</a:t>
            </a:r>
            <a:endParaRPr lang="en-US" sz="1200" dirty="0"/>
          </a:p>
        </p:txBody>
      </p:sp>
      <p:sp>
        <p:nvSpPr>
          <p:cNvPr id="40" name="Shape 27"/>
          <p:cNvSpPr/>
          <p:nvPr/>
        </p:nvSpPr>
        <p:spPr>
          <a:xfrm>
            <a:off x="5852160" y="5143500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EAF3F7"/>
          </a:solidFill>
          <a:ln/>
        </p:spPr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61888" y="5248656"/>
            <a:ext cx="292608" cy="292608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6355080" y="51435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logs_sistema</a:t>
            </a:r>
            <a:endParaRPr lang="en-US" sz="1200" dirty="0"/>
          </a:p>
        </p:txBody>
      </p:sp>
      <p:sp>
        <p:nvSpPr>
          <p:cNvPr id="43" name="Shape 29"/>
          <p:cNvSpPr/>
          <p:nvPr/>
        </p:nvSpPr>
        <p:spPr>
          <a:xfrm>
            <a:off x="8732520" y="5143500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EAF3F7"/>
          </a:solidFill>
          <a:ln/>
        </p:spPr>
      </p:sp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42248" y="5248656"/>
            <a:ext cx="292608" cy="292608"/>
          </a:xfrm>
          <a:prstGeom prst="rect">
            <a:avLst/>
          </a:prstGeom>
        </p:spPr>
      </p:pic>
      <p:sp>
        <p:nvSpPr>
          <p:cNvPr id="45" name="Text 30"/>
          <p:cNvSpPr/>
          <p:nvPr/>
        </p:nvSpPr>
        <p:spPr>
          <a:xfrm>
            <a:off x="9235440" y="51435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notificacoes</a:t>
            </a:r>
            <a:endParaRPr lang="en-US" sz="1200" dirty="0"/>
          </a:p>
        </p:txBody>
      </p:sp>
      <p:sp>
        <p:nvSpPr>
          <p:cNvPr id="46" name="Shape 31"/>
          <p:cNvSpPr/>
          <p:nvPr/>
        </p:nvSpPr>
        <p:spPr>
          <a:xfrm>
            <a:off x="5852160" y="5751576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EAF3F7"/>
          </a:solidFill>
          <a:ln/>
        </p:spPr>
      </p:sp>
      <p:pic>
        <p:nvPicPr>
          <p:cNvPr id="4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61888" y="5856732"/>
            <a:ext cx="292608" cy="292608"/>
          </a:xfrm>
          <a:prstGeom prst="rect">
            <a:avLst/>
          </a:prstGeom>
        </p:spPr>
      </p:pic>
      <p:sp>
        <p:nvSpPr>
          <p:cNvPr id="48" name="Text 32"/>
          <p:cNvSpPr/>
          <p:nvPr/>
        </p:nvSpPr>
        <p:spPr>
          <a:xfrm>
            <a:off x="6355080" y="5751576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pesquisas</a:t>
            </a:r>
            <a:endParaRPr lang="en-US" sz="1200" dirty="0"/>
          </a:p>
        </p:txBody>
      </p:sp>
      <p:sp>
        <p:nvSpPr>
          <p:cNvPr id="49" name="Shape 33"/>
          <p:cNvSpPr/>
          <p:nvPr/>
        </p:nvSpPr>
        <p:spPr>
          <a:xfrm>
            <a:off x="8732520" y="5751576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EAF3F7"/>
          </a:solidFill>
          <a:ln/>
        </p:spPr>
      </p:sp>
      <p:pic>
        <p:nvPicPr>
          <p:cNvPr id="5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42248" y="5856732"/>
            <a:ext cx="292608" cy="292608"/>
          </a:xfrm>
          <a:prstGeom prst="rect">
            <a:avLst/>
          </a:prstGeom>
        </p:spPr>
      </p:pic>
      <p:sp>
        <p:nvSpPr>
          <p:cNvPr id="51" name="Text 34"/>
          <p:cNvSpPr/>
          <p:nvPr/>
        </p:nvSpPr>
        <p:spPr>
          <a:xfrm>
            <a:off x="9235440" y="5751576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recomendacoes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de Pastas e Automação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do diretório raiz: D:\docker\ecommerce_nosql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3154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8B1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ecommerce_nosql/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venv/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scripts/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gerador_massivo_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  ecommerce.py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consultas.py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indices.py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json/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logs/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relatorio/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backups/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1691640"/>
          <a:ext cx="69951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343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Diretório / Ficheiro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 Técnica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venv/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Ambiente virtual Python isolado com as dependências (ex: pymongo).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scripts/gerador_massivo_ecommerce.py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Geração e injeção em massa de dados fictícios para testes de carga e stress.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scripts/consultas.py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Centraliza a lógica das queries, agregações e filtros de pesquisa de negócio.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scripts/indices.py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Criação e manutenção de índices para otimização da performance de busca.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json/, logs/, relatorio/, backups/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Pastas utilitárias para esquemas de dados, logs de erro, relatórios técnicos e cópias de segurança.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Execução dos Scripts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massiva de dados com gerador_massivo_ecommerce.py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4" y="21433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97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B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500.000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22960" y="33375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de clientes gerados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520440" y="178308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49040" y="20116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0714" y="21433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03320" y="2697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B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200,7s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3703320" y="33375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total de geração de clientes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0" y="178308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629400" y="20116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074" y="21433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83680" y="2697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B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2.491</a:t>
            </a:r>
            <a:endParaRPr lang="en-US" sz="3200" dirty="0"/>
          </a:p>
        </p:txBody>
      </p:sp>
      <p:sp>
        <p:nvSpPr>
          <p:cNvPr id="18" name="Text 13"/>
          <p:cNvSpPr/>
          <p:nvPr/>
        </p:nvSpPr>
        <p:spPr>
          <a:xfrm>
            <a:off x="6583680" y="33375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por segundo (docs/s)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281160" y="178308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509760" y="20116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1434" y="214335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64040" y="2697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B1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300.000</a:t>
            </a:r>
            <a:endParaRPr lang="en-US" sz="3200" dirty="0"/>
          </a:p>
        </p:txBody>
      </p:sp>
      <p:sp>
        <p:nvSpPr>
          <p:cNvPr id="23" name="Text 17"/>
          <p:cNvSpPr/>
          <p:nvPr/>
        </p:nvSpPr>
        <p:spPr>
          <a:xfrm>
            <a:off x="9464040" y="33375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em geração (12% concluído)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40080" y="4434840"/>
            <a:ext cx="10972800" cy="1783080"/>
          </a:xfrm>
          <a:prstGeom prst="roundRect">
            <a:avLst>
              <a:gd name="adj" fmla="val 4103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da Execução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14400" y="498348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✓"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Ligação ao MongoDB estabelecida com sucesso.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✓"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500.000 registos de clientes concluída em 200.7 segundos (~2.491 docs/s).</a:t>
            </a:r>
            <a:endParaRPr lang="en-US" sz="1300" dirty="0"/>
          </a:p>
          <a:p>
            <a:pPr marL="342900" indent="-342900">
              <a:lnSpc>
                <a:spcPct val="110000"/>
              </a:lnSpc>
              <a:buSzPct val="100000"/>
              <a:buChar char="✓"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da geração de 300.000 produtos, com taxa de aproximadamente 3.075 docs/s.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4114800" cy="41148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Conclusões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64008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integração do ecossistema NoSQL estruturado neste projeto provou ser uma escolha altamente eficaz.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isolamento em Docker oferece um ciclo de desenvolvimento limpo e livre de conflitos de dependências.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MongoDB assegura que a plataforma de e-commerce esteja preparada para escalabilidade futura, mantendo uma experiência fluida através do uso otimizado de índices de pesquisa.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80960" y="173736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09560" y="19888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3179" y="2142439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32520" y="19019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732520" y="23042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limpo e reprodutível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680960" y="310896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7909560" y="33604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3179" y="351403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732520" y="32735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8732520" y="36758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 e flexibilidade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680960" y="448056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7909560" y="47320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3179" y="4885639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32520" y="46451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732520" y="50474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Buscas otimizadas e rápidas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Relatório do Projeto de SGBD - Infraestrutura NoSQL</dc:title>
  <dc:subject>PptxGenJS Presentation</dc:subject>
  <dc:creator>Grupo de Engenharia Informática - UKV</dc:creator>
  <cp:lastModifiedBy>Grupo de Engenharia Informática - UKV</cp:lastModifiedBy>
  <cp:revision>1</cp:revision>
  <dcterms:created xsi:type="dcterms:W3CDTF">2026-06-11T08:05:44Z</dcterms:created>
  <dcterms:modified xsi:type="dcterms:W3CDTF">2026-06-11T08:05:44Z</dcterms:modified>
</cp:coreProperties>
</file>